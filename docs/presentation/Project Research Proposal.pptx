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i5rKbgcz9SS2FdpXUjv1fuaVMD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8DF3A9-4CFB-479B-B545-CE3558B795E0}">
  <a:tblStyle styleId="{828DF3A9-4CFB-479B-B545-CE3558B795E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ffa9e05a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6ffa9e05a9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ffa9e05a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6ffa9e05a9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ffa9e05a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6ffa9e05a9_0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hyperlink" Target="https://www.sec.gov/Archives/edgar/data/93751/000104746905012929/0001047469-05-012929.tx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hyperlink" Target="https://arxiv.org/pdf/2106.12987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5166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3628" l="0" r="-3719" t="-92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3255625" y="270800"/>
            <a:ext cx="4889408" cy="7227544"/>
          </a:xfrm>
          <a:custGeom>
            <a:rect b="b" l="l" r="r" t="t"/>
            <a:pathLst>
              <a:path extrusionOk="0" h="8143711" w="7380238">
                <a:moveTo>
                  <a:pt x="0" y="0"/>
                </a:moveTo>
                <a:lnTo>
                  <a:pt x="7380238" y="0"/>
                </a:lnTo>
                <a:lnTo>
                  <a:pt x="7380238" y="8143712"/>
                </a:lnTo>
                <a:lnTo>
                  <a:pt x="0" y="8143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0567941" y="782009"/>
            <a:ext cx="1136573" cy="552658"/>
          </a:xfrm>
          <a:custGeom>
            <a:rect b="b" l="l" r="r" t="t"/>
            <a:pathLst>
              <a:path extrusionOk="0" h="552658" w="1136573">
                <a:moveTo>
                  <a:pt x="0" y="0"/>
                </a:moveTo>
                <a:lnTo>
                  <a:pt x="1136573" y="0"/>
                </a:lnTo>
                <a:lnTo>
                  <a:pt x="1136573" y="552658"/>
                </a:lnTo>
                <a:lnTo>
                  <a:pt x="0" y="5526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-568286" y="9581926"/>
            <a:ext cx="1136573" cy="552658"/>
          </a:xfrm>
          <a:custGeom>
            <a:rect b="b" l="l" r="r" t="t"/>
            <a:pathLst>
              <a:path extrusionOk="0" h="552658" w="1136573">
                <a:moveTo>
                  <a:pt x="0" y="0"/>
                </a:moveTo>
                <a:lnTo>
                  <a:pt x="1136572" y="0"/>
                </a:lnTo>
                <a:lnTo>
                  <a:pt x="1136572" y="552659"/>
                </a:lnTo>
                <a:lnTo>
                  <a:pt x="0" y="5526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80925" y="1704200"/>
            <a:ext cx="15363000" cy="21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6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Social Graph of Institutional Investors</a:t>
            </a:r>
            <a:endParaRPr b="1" i="0" sz="6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t/>
            </a:r>
            <a:endParaRPr b="1" i="0" sz="5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028708" y="2792326"/>
            <a:ext cx="1191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Analyzing Investment Networks Based on SEC 13F Filings</a:t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028700" y="7874955"/>
            <a:ext cx="18855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8"/>
              <a:buFont typeface="Arial"/>
              <a:buNone/>
            </a:pPr>
            <a:r>
              <a:rPr b="0" i="0" lang="en-US" sz="237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Students: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886184" y="7874955"/>
            <a:ext cx="20409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8"/>
              <a:buFont typeface="Arial"/>
              <a:buNone/>
            </a:pPr>
            <a:r>
              <a:rPr b="0" i="0" lang="en-US" sz="237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Supervisor:</a:t>
            </a:r>
            <a:endParaRPr b="0" i="0" sz="237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8"/>
              <a:buFont typeface="Arial"/>
              <a:buNone/>
            </a:pPr>
            <a:r>
              <a:t/>
            </a:r>
            <a:endParaRPr b="0" i="0" sz="237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028700" y="8392340"/>
            <a:ext cx="5837400" cy="1472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78"/>
              <a:buFont typeface="Arial"/>
              <a:buNone/>
            </a:pPr>
            <a:r>
              <a:rPr b="1" i="0" lang="en-US" sz="2278" u="none" cap="none" strike="noStrike">
                <a:solidFill>
                  <a:srgbClr val="56DC2C"/>
                </a:solidFill>
                <a:latin typeface="Arial"/>
                <a:ea typeface="Arial"/>
                <a:cs typeface="Arial"/>
                <a:sym typeface="Arial"/>
              </a:rPr>
              <a:t>Leor Shulstein, Ilay Damari </a:t>
            </a:r>
            <a:endParaRPr b="1" i="0" sz="2278" u="none" cap="none" strike="noStrike">
              <a:solidFill>
                <a:srgbClr val="56DC2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78"/>
              <a:buFont typeface="Arial"/>
              <a:buNone/>
            </a:pPr>
            <a:r>
              <a:rPr b="1" i="0" lang="en-US" sz="2278" u="none" cap="none" strike="noStrike">
                <a:solidFill>
                  <a:srgbClr val="56DC2C"/>
                </a:solidFill>
                <a:latin typeface="Arial"/>
                <a:ea typeface="Arial"/>
                <a:cs typeface="Arial"/>
                <a:sym typeface="Arial"/>
              </a:rPr>
              <a:t>Asaf Zenou, Daniel Korkevados</a:t>
            </a:r>
            <a:endParaRPr b="1" i="0" sz="2278" u="none" cap="none" strike="noStrike">
              <a:solidFill>
                <a:srgbClr val="56DC2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78"/>
              <a:buFont typeface="Arial"/>
              <a:buNone/>
            </a:pPr>
            <a:r>
              <a:t/>
            </a:r>
            <a:endParaRPr b="1" i="0" sz="2278" u="none" cap="none" strike="noStrike">
              <a:solidFill>
                <a:srgbClr val="56DC2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886188" y="8392354"/>
            <a:ext cx="3816600" cy="49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78"/>
              <a:buFont typeface="Arial"/>
              <a:buNone/>
            </a:pPr>
            <a:r>
              <a:rPr b="1" i="0" lang="en-US" sz="2278" u="none" cap="none" strike="noStrike">
                <a:solidFill>
                  <a:srgbClr val="56DC2C"/>
                </a:solidFill>
                <a:latin typeface="Arial"/>
                <a:ea typeface="Arial"/>
                <a:cs typeface="Arial"/>
                <a:sym typeface="Arial"/>
              </a:rPr>
              <a:t>Offer zevin</a:t>
            </a:r>
            <a:endParaRPr b="1" i="0" sz="2278" u="none" cap="none" strike="noStrike">
              <a:solidFill>
                <a:srgbClr val="56DC2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0" y="0"/>
            <a:ext cx="1892808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29" l="0" r="0" t="-831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 flipH="1" rot="10800000">
            <a:off x="158749" y="5482211"/>
            <a:ext cx="2601534" cy="4804789"/>
          </a:xfrm>
          <a:custGeom>
            <a:rect b="b" l="l" r="r" t="t"/>
            <a:pathLst>
              <a:path extrusionOk="0" h="8143711" w="7380238">
                <a:moveTo>
                  <a:pt x="0" y="8143711"/>
                </a:moveTo>
                <a:lnTo>
                  <a:pt x="7380239" y="8143711"/>
                </a:lnTo>
                <a:lnTo>
                  <a:pt x="7380239" y="0"/>
                </a:lnTo>
                <a:lnTo>
                  <a:pt x="0" y="0"/>
                </a:lnTo>
                <a:lnTo>
                  <a:pt x="0" y="814371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-61" y="599425"/>
            <a:ext cx="189282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4"/>
              <a:buFont typeface="Arial"/>
              <a:buNone/>
            </a:pPr>
            <a:r>
              <a:rPr b="1" i="0" lang="en-US" sz="5044" u="none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What Is 13F ? </a:t>
            </a:r>
            <a:endParaRPr b="1" i="0" sz="5044" u="none" cap="none" strike="noStrike">
              <a:solidFill>
                <a:srgbClr val="56DC2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1490425" y="1971350"/>
            <a:ext cx="16290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24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845525" y="2171450"/>
            <a:ext cx="10664400" cy="16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5193" lvl="0" marL="45720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81"/>
              <a:buFont typeface="Cambria"/>
              <a:buChar char="●"/>
            </a:pPr>
            <a:r>
              <a:rPr b="0" i="0" lang="en-US" sz="2781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 quarterly report filed by institutional investors to the U.S. SEC.</a:t>
            </a:r>
            <a:endParaRPr b="0" i="0" sz="2781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05193" lvl="0" marL="45720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81"/>
              <a:buFont typeface="Cambria"/>
              <a:buChar char="●"/>
            </a:pPr>
            <a:r>
              <a:rPr b="0" i="0" lang="en-US" sz="2781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Includes all stock holdings above $100M in managed assets.</a:t>
            </a:r>
            <a:endParaRPr sz="2781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05193" lvl="0" marL="45720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81"/>
              <a:buFont typeface="Cambria"/>
              <a:buChar char="●"/>
            </a:pPr>
            <a:r>
              <a:rPr b="0" i="0" lang="en-US" sz="2781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Provides transparency into large investors portfolios.</a:t>
            </a:r>
            <a:endParaRPr b="0" i="0" sz="2781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03" name="Google Shape;10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40450" y="4419974"/>
            <a:ext cx="7625851" cy="4976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" name="Google Shape;104;p3"/>
          <p:cNvGraphicFramePr/>
          <p:nvPr/>
        </p:nvGraphicFramePr>
        <p:xfrm>
          <a:off x="12642525" y="395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{828DF3A9-4CFB-479B-B545-CE3558B795E0}</a:tableStyleId>
              </a:tblPr>
              <a:tblGrid>
                <a:gridCol w="4823125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rgbClr val="FFFFFF"/>
                          </a:solidFill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STATE STREET CORP Q1 -&gt; 2005 - 13F FILLING</a:t>
                      </a:r>
                      <a:endParaRPr sz="14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ffa9e05a9_0_3"/>
          <p:cNvSpPr/>
          <p:nvPr/>
        </p:nvSpPr>
        <p:spPr>
          <a:xfrm>
            <a:off x="0" y="0"/>
            <a:ext cx="1892808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27" l="0" r="0" t="-831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6ffa9e05a9_0_3"/>
          <p:cNvSpPr/>
          <p:nvPr/>
        </p:nvSpPr>
        <p:spPr>
          <a:xfrm flipH="1" rot="10800000">
            <a:off x="158749" y="5482211"/>
            <a:ext cx="2601534" cy="4804789"/>
          </a:xfrm>
          <a:custGeom>
            <a:rect b="b" l="l" r="r" t="t"/>
            <a:pathLst>
              <a:path extrusionOk="0" h="8143711" w="7380238">
                <a:moveTo>
                  <a:pt x="0" y="8143711"/>
                </a:moveTo>
                <a:lnTo>
                  <a:pt x="7380239" y="8143711"/>
                </a:lnTo>
                <a:lnTo>
                  <a:pt x="7380239" y="0"/>
                </a:lnTo>
                <a:lnTo>
                  <a:pt x="0" y="0"/>
                </a:lnTo>
                <a:lnTo>
                  <a:pt x="0" y="814371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6ffa9e05a9_0_3"/>
          <p:cNvSpPr txBox="1"/>
          <p:nvPr/>
        </p:nvSpPr>
        <p:spPr>
          <a:xfrm>
            <a:off x="-100" y="740975"/>
            <a:ext cx="189282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4"/>
              <a:buFont typeface="Arial"/>
              <a:buNone/>
            </a:pPr>
            <a:r>
              <a:rPr b="1" i="0" lang="en-US" sz="5044" u="none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How It Effects on Stock Market</a:t>
            </a:r>
            <a:endParaRPr b="1" i="0" sz="5044" u="none" cap="none" strike="noStrike">
              <a:solidFill>
                <a:srgbClr val="56DC2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12" name="Google Shape;112;g36ffa9e05a9_0_3"/>
          <p:cNvPicPr preferRelativeResize="0"/>
          <p:nvPr/>
        </p:nvPicPr>
        <p:blipFill rotWithShape="1">
          <a:blip r:embed="rId5">
            <a:alphaModFix/>
          </a:blip>
          <a:srcRect b="45734" l="0" r="0" t="0"/>
          <a:stretch/>
        </p:blipFill>
        <p:spPr>
          <a:xfrm>
            <a:off x="11674150" y="1912625"/>
            <a:ext cx="7019925" cy="319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6ffa9e05a9_0_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160738" y="5507298"/>
            <a:ext cx="6046750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6ffa9e05a9_0_3"/>
          <p:cNvSpPr txBox="1"/>
          <p:nvPr/>
        </p:nvSpPr>
        <p:spPr>
          <a:xfrm>
            <a:off x="511025" y="2281525"/>
            <a:ext cx="11065800" cy="58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00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●"/>
            </a:pPr>
            <a:r>
              <a:rPr b="0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By combining all filings, we can link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funds ↔ stocks</a:t>
            </a:r>
            <a:r>
              <a:rPr b="0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and observe</a:t>
            </a:r>
            <a:r>
              <a:rPr b="0" i="0" lang="en-US" sz="2700" u="none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0" lang="en-US" sz="2700" u="none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capital flow patterns.</a:t>
            </a:r>
            <a:endParaRPr b="1" i="0" sz="2700" u="none" cap="none" strike="noStrike">
              <a:solidFill>
                <a:srgbClr val="56DC2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0005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●"/>
            </a:pPr>
            <a:r>
              <a:rPr b="0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network reveals how </a:t>
            </a:r>
            <a:r>
              <a:rPr b="1" i="0" lang="en-US" sz="2700" u="none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top investors influence market sentiment</a:t>
            </a:r>
            <a:r>
              <a:rPr b="0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and how capital concentration leads to a </a:t>
            </a:r>
            <a:r>
              <a:rPr b="1" i="0" lang="en-US" sz="2700" u="none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“rich get richer” effect</a:t>
            </a:r>
            <a:r>
              <a:rPr b="0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 where popular stocks attract even more institutional money over time.</a:t>
            </a:r>
            <a:br>
              <a:rPr b="0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b="0" i="0" sz="27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marR="0" rtl="0" algn="l">
              <a:lnSpc>
                <a:spcPct val="140035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ffa9e05a9_0_25"/>
          <p:cNvSpPr/>
          <p:nvPr/>
        </p:nvSpPr>
        <p:spPr>
          <a:xfrm>
            <a:off x="0" y="0"/>
            <a:ext cx="1892808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27" l="0" r="0" t="-831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https://arxiv.org/pdf/2106.12987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6ffa9e05a9_0_25"/>
          <p:cNvSpPr/>
          <p:nvPr/>
        </p:nvSpPr>
        <p:spPr>
          <a:xfrm flipH="1" rot="10800000">
            <a:off x="-964074" y="5751161"/>
            <a:ext cx="5239969" cy="4804789"/>
          </a:xfrm>
          <a:custGeom>
            <a:rect b="b" l="l" r="r" t="t"/>
            <a:pathLst>
              <a:path extrusionOk="0" h="8143711" w="7380238">
                <a:moveTo>
                  <a:pt x="0" y="8143711"/>
                </a:moveTo>
                <a:lnTo>
                  <a:pt x="7380239" y="8143711"/>
                </a:lnTo>
                <a:lnTo>
                  <a:pt x="7380239" y="0"/>
                </a:lnTo>
                <a:lnTo>
                  <a:pt x="0" y="0"/>
                </a:lnTo>
                <a:lnTo>
                  <a:pt x="0" y="814371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6ffa9e05a9_0_25"/>
          <p:cNvSpPr txBox="1"/>
          <p:nvPr/>
        </p:nvSpPr>
        <p:spPr>
          <a:xfrm>
            <a:off x="5448755" y="725262"/>
            <a:ext cx="73905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4"/>
              <a:buFont typeface="Arial"/>
              <a:buNone/>
            </a:pPr>
            <a:r>
              <a:rPr b="1" i="0" lang="en-US" sz="5044" u="none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Research Direction</a:t>
            </a:r>
            <a:endParaRPr b="1" i="0" sz="5044" u="none" cap="none" strike="noStrike">
              <a:solidFill>
                <a:srgbClr val="56DC2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2" name="Google Shape;122;g36ffa9e05a9_0_25"/>
          <p:cNvSpPr txBox="1"/>
          <p:nvPr/>
        </p:nvSpPr>
        <p:spPr>
          <a:xfrm>
            <a:off x="2421775" y="3520975"/>
            <a:ext cx="6183900" cy="15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Bipartite Graph:</a:t>
            </a:r>
            <a:r>
              <a:rPr b="0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Funds ↔ Stocks</a:t>
            </a:r>
            <a:br>
              <a:rPr b="0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b="0" i="0" sz="26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81"/>
              <a:buFont typeface="Arial"/>
              <a:buNone/>
            </a:pPr>
            <a:r>
              <a:t/>
            </a:r>
            <a:endParaRPr b="0" i="0" sz="278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6ffa9e05a9_0_25"/>
          <p:cNvSpPr txBox="1"/>
          <p:nvPr/>
        </p:nvSpPr>
        <p:spPr>
          <a:xfrm>
            <a:off x="1766090" y="3551007"/>
            <a:ext cx="997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24"/>
              <a:buFont typeface="Arial"/>
              <a:buNone/>
            </a:pPr>
            <a:r>
              <a:rPr b="1" i="0" lang="en-US" sz="2924" u="none" cap="none" strike="noStrike">
                <a:solidFill>
                  <a:srgbClr val="56DC2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6ffa9e05a9_0_25"/>
          <p:cNvSpPr txBox="1"/>
          <p:nvPr/>
        </p:nvSpPr>
        <p:spPr>
          <a:xfrm>
            <a:off x="1766112" y="6048059"/>
            <a:ext cx="997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24"/>
              <a:buFont typeface="Arial"/>
              <a:buNone/>
            </a:pPr>
            <a:r>
              <a:rPr b="1" i="0" lang="en-US" sz="2924" u="none" cap="none" strike="noStrike">
                <a:solidFill>
                  <a:srgbClr val="56DC2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6ffa9e05a9_0_25"/>
          <p:cNvSpPr txBox="1"/>
          <p:nvPr/>
        </p:nvSpPr>
        <p:spPr>
          <a:xfrm>
            <a:off x="1766094" y="4762650"/>
            <a:ext cx="447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24"/>
              <a:buFont typeface="Arial"/>
              <a:buNone/>
            </a:pPr>
            <a:r>
              <a:rPr b="1" i="0" lang="en-US" sz="2924" u="none" cap="none" strike="noStrike">
                <a:solidFill>
                  <a:srgbClr val="56DC2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6ffa9e05a9_0_25"/>
          <p:cNvSpPr txBox="1"/>
          <p:nvPr/>
        </p:nvSpPr>
        <p:spPr>
          <a:xfrm>
            <a:off x="1490425" y="1971350"/>
            <a:ext cx="16290300" cy="11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We propose building a </a:t>
            </a:r>
            <a:r>
              <a:rPr b="1" i="0" lang="en-US" sz="3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social network</a:t>
            </a:r>
            <a:r>
              <a:rPr b="0" i="0" lang="en-US" sz="3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of institutional investments:</a:t>
            </a:r>
            <a:endParaRPr b="0" i="0" sz="31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4001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24"/>
              <a:buFont typeface="Arial"/>
              <a:buNone/>
            </a:pPr>
            <a:r>
              <a:t/>
            </a:r>
            <a:endParaRPr b="1" i="0" sz="282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6ffa9e05a9_0_25"/>
          <p:cNvSpPr txBox="1"/>
          <p:nvPr/>
        </p:nvSpPr>
        <p:spPr>
          <a:xfrm>
            <a:off x="2421775" y="4762650"/>
            <a:ext cx="72831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Analyze structure and dynamics across quarters.</a:t>
            </a:r>
            <a:endParaRPr b="0" i="0" sz="26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81"/>
              <a:buFont typeface="Arial"/>
              <a:buNone/>
            </a:pPr>
            <a:r>
              <a:t/>
            </a:r>
            <a:endParaRPr b="0" i="0" sz="2781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6ffa9e05a9_0_25"/>
          <p:cNvSpPr txBox="1"/>
          <p:nvPr/>
        </p:nvSpPr>
        <p:spPr>
          <a:xfrm>
            <a:off x="2421772" y="6048050"/>
            <a:ext cx="61839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Use it to gain insights and make predictions on investment behavior.</a:t>
            </a:r>
            <a:endParaRPr b="0" i="0" sz="26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9" name="Google Shape;129;g36ffa9e05a9_0_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13538" y="3458400"/>
            <a:ext cx="7991475" cy="562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6ffa9e05a9_0_25"/>
          <p:cNvSpPr txBox="1"/>
          <p:nvPr/>
        </p:nvSpPr>
        <p:spPr>
          <a:xfrm>
            <a:off x="11152100" y="9185950"/>
            <a:ext cx="61839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sng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Vanguard Group Earlier Research</a:t>
            </a:r>
            <a:endParaRPr b="0" i="0" sz="3200" u="none" cap="none" strike="noStrike">
              <a:solidFill>
                <a:srgbClr val="56DC2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ffa9e05a9_0_49"/>
          <p:cNvSpPr/>
          <p:nvPr/>
        </p:nvSpPr>
        <p:spPr>
          <a:xfrm>
            <a:off x="38" y="0"/>
            <a:ext cx="1892808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27" l="0" r="0" t="-831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6ffa9e05a9_0_49"/>
          <p:cNvSpPr/>
          <p:nvPr/>
        </p:nvSpPr>
        <p:spPr>
          <a:xfrm flipH="1" rot="10800000">
            <a:off x="158749" y="5482211"/>
            <a:ext cx="2601534" cy="4804789"/>
          </a:xfrm>
          <a:custGeom>
            <a:rect b="b" l="l" r="r" t="t"/>
            <a:pathLst>
              <a:path extrusionOk="0" h="8143711" w="7380238">
                <a:moveTo>
                  <a:pt x="0" y="8143711"/>
                </a:moveTo>
                <a:lnTo>
                  <a:pt x="7380239" y="8143711"/>
                </a:lnTo>
                <a:lnTo>
                  <a:pt x="7380239" y="0"/>
                </a:lnTo>
                <a:lnTo>
                  <a:pt x="0" y="0"/>
                </a:lnTo>
                <a:lnTo>
                  <a:pt x="0" y="814371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6ffa9e05a9_0_49"/>
          <p:cNvSpPr txBox="1"/>
          <p:nvPr/>
        </p:nvSpPr>
        <p:spPr>
          <a:xfrm>
            <a:off x="-22" y="424066"/>
            <a:ext cx="189282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4"/>
              <a:buFont typeface="Arial"/>
              <a:buNone/>
            </a:pPr>
            <a:r>
              <a:rPr b="1" i="0" lang="en-US" sz="5044" u="none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Network Analysis &amp; Research Goals</a:t>
            </a:r>
            <a:endParaRPr b="1" i="0" sz="5044" u="none" cap="none" strike="noStrike">
              <a:solidFill>
                <a:srgbClr val="56DC2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8" name="Google Shape;138;g36ffa9e05a9_0_49"/>
          <p:cNvSpPr txBox="1"/>
          <p:nvPr/>
        </p:nvSpPr>
        <p:spPr>
          <a:xfrm>
            <a:off x="2155050" y="1805050"/>
            <a:ext cx="6796800" cy="4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81"/>
              <a:buFont typeface="Arial"/>
              <a:buNone/>
            </a:pPr>
            <a:r>
              <a:rPr b="1" i="0" lang="en-US" sz="2800" u="sng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Return Analysis : </a:t>
            </a:r>
            <a:endParaRPr b="1" i="0" sz="2800" u="sng" cap="none" strike="noStrike">
              <a:solidFill>
                <a:srgbClr val="56DC2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06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Char char="●"/>
            </a:pPr>
            <a:r>
              <a:rPr b="0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Study stock performance based on network evolution.</a:t>
            </a:r>
            <a:endParaRPr b="0" i="0" sz="28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Char char="●"/>
            </a:pPr>
            <a:r>
              <a:rPr b="0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Measure how leading funds shape market sentiment and trigger the </a:t>
            </a: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“rich get richer”</a:t>
            </a:r>
            <a:r>
              <a:rPr b="0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effect.</a:t>
            </a:r>
            <a:br>
              <a:rPr b="0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b="0" i="0" sz="26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9" name="Google Shape;139;g36ffa9e05a9_0_49"/>
          <p:cNvSpPr txBox="1"/>
          <p:nvPr/>
        </p:nvSpPr>
        <p:spPr>
          <a:xfrm>
            <a:off x="1766100" y="1805041"/>
            <a:ext cx="5304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24"/>
              <a:buFont typeface="Arial"/>
              <a:buNone/>
            </a:pPr>
            <a:r>
              <a:rPr b="1" i="0" lang="en-US" sz="2924" u="none" cap="none" strike="noStrike">
                <a:solidFill>
                  <a:srgbClr val="56DC2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6ffa9e05a9_0_49"/>
          <p:cNvSpPr txBox="1"/>
          <p:nvPr/>
        </p:nvSpPr>
        <p:spPr>
          <a:xfrm>
            <a:off x="9806537" y="1805050"/>
            <a:ext cx="997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24"/>
              <a:buFont typeface="Arial"/>
              <a:buNone/>
            </a:pPr>
            <a:r>
              <a:rPr b="1" i="0" lang="en-US" sz="2924" u="none" cap="none" strike="noStrike">
                <a:solidFill>
                  <a:srgbClr val="56DC2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6ffa9e05a9_0_49"/>
          <p:cNvSpPr txBox="1"/>
          <p:nvPr/>
        </p:nvSpPr>
        <p:spPr>
          <a:xfrm>
            <a:off x="9806537" y="5590280"/>
            <a:ext cx="997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24"/>
              <a:buFont typeface="Arial"/>
              <a:buNone/>
            </a:pPr>
            <a:r>
              <a:rPr b="1" i="0" lang="en-US" sz="2924" u="none" cap="none" strike="noStrike">
                <a:solidFill>
                  <a:srgbClr val="56DC2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6ffa9e05a9_0_49"/>
          <p:cNvSpPr txBox="1"/>
          <p:nvPr/>
        </p:nvSpPr>
        <p:spPr>
          <a:xfrm>
            <a:off x="1766094" y="5753616"/>
            <a:ext cx="3843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24"/>
              <a:buFont typeface="Arial"/>
              <a:buNone/>
            </a:pPr>
            <a:r>
              <a:rPr b="1" i="0" lang="en-US" sz="2924" u="none" cap="none" strike="noStrike">
                <a:solidFill>
                  <a:srgbClr val="56DC2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6ffa9e05a9_0_49"/>
          <p:cNvSpPr txBox="1"/>
          <p:nvPr/>
        </p:nvSpPr>
        <p:spPr>
          <a:xfrm>
            <a:off x="2401950" y="5753625"/>
            <a:ext cx="66552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81"/>
              <a:buFont typeface="Arial"/>
              <a:buNone/>
            </a:pPr>
            <a:r>
              <a:rPr b="1" i="0" lang="en-US" sz="2800" u="sng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 Link Prediction:</a:t>
            </a:r>
            <a:endParaRPr b="1" i="0" sz="2800" u="sng" cap="none" strike="noStrike">
              <a:solidFill>
                <a:srgbClr val="56DC2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Char char="●"/>
            </a:pPr>
            <a:r>
              <a:rPr b="0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Predict which fund–stock links will appear or disappear next quarter</a:t>
            </a:r>
            <a:r>
              <a:rPr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/s.</a:t>
            </a:r>
            <a:r>
              <a:rPr b="0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b="0" i="0" sz="26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Char char="●"/>
            </a:pPr>
            <a:r>
              <a:rPr b="0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Derive investment opportunities.</a:t>
            </a:r>
            <a:br>
              <a:rPr b="0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b="0" i="0" sz="26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40035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81"/>
              <a:buFont typeface="Arial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b="0" i="0" sz="26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4" name="Google Shape;144;g36ffa9e05a9_0_49"/>
          <p:cNvSpPr txBox="1"/>
          <p:nvPr/>
        </p:nvSpPr>
        <p:spPr>
          <a:xfrm>
            <a:off x="10452301" y="1805050"/>
            <a:ext cx="78357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81"/>
              <a:buFont typeface="Arial"/>
              <a:buNone/>
            </a:pPr>
            <a:r>
              <a:rPr b="1" i="0" lang="en-US" sz="2800" u="sng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Crisis Behavior : </a:t>
            </a:r>
            <a:endParaRPr b="1" i="0" sz="2800" u="sng" cap="none" strike="noStrike">
              <a:solidFill>
                <a:srgbClr val="56DC2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Analyze how the network behaves during </a:t>
            </a: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financial crises</a:t>
            </a:r>
            <a:b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(e.g., 2008, COVID-19, inflation periods).</a:t>
            </a:r>
            <a:endParaRPr b="0" i="0" sz="26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5" name="Google Shape;145;g36ffa9e05a9_0_49"/>
          <p:cNvSpPr txBox="1"/>
          <p:nvPr/>
        </p:nvSpPr>
        <p:spPr>
          <a:xfrm>
            <a:off x="10452300" y="5600475"/>
            <a:ext cx="7835700" cy="3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81"/>
              <a:buFont typeface="Arial"/>
              <a:buNone/>
            </a:pPr>
            <a:r>
              <a:rPr b="1" i="0" lang="en-US" sz="2800" u="sng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Herding &amp; Hidden Communities :</a:t>
            </a:r>
            <a:endParaRPr b="1" i="0" sz="2800" u="sng" cap="none" strike="noStrike">
              <a:solidFill>
                <a:srgbClr val="56DC2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Char char="●"/>
            </a:pPr>
            <a:r>
              <a:rPr b="0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Detect overlapping holdings that indicate herding behavior among institutional investors.</a:t>
            </a:r>
            <a:br>
              <a:rPr b="0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b="0" i="0" sz="26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Apply </a:t>
            </a: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community detection algorithms</a:t>
            </a:r>
            <a:r>
              <a:rPr b="0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to reveal clusters of similar funds and analyze their systemic influence.</a:t>
            </a:r>
            <a:endParaRPr b="0" i="0" sz="26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/>
          <p:nvPr/>
        </p:nvSpPr>
        <p:spPr>
          <a:xfrm>
            <a:off x="0" y="0"/>
            <a:ext cx="187452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25" l="0" r="0" t="-832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14422459" y="-58051"/>
            <a:ext cx="5664333" cy="1649101"/>
          </a:xfrm>
          <a:custGeom>
            <a:rect b="b" l="l" r="r" t="t"/>
            <a:pathLst>
              <a:path extrusionOk="0" h="8143711" w="7380238">
                <a:moveTo>
                  <a:pt x="0" y="0"/>
                </a:moveTo>
                <a:lnTo>
                  <a:pt x="7380238" y="0"/>
                </a:lnTo>
                <a:lnTo>
                  <a:pt x="7380238" y="8143711"/>
                </a:lnTo>
                <a:lnTo>
                  <a:pt x="0" y="8143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-97107" y="814650"/>
            <a:ext cx="187452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Solution Approach</a:t>
            </a:r>
            <a:endParaRPr b="1" i="0" sz="5400" u="none" cap="none" strike="noStrike">
              <a:solidFill>
                <a:srgbClr val="56DC2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417935" y="1770977"/>
            <a:ext cx="17258166" cy="6694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Data Graph analysis toolkit: </a:t>
            </a:r>
            <a:r>
              <a:rPr b="1" i="0" lang="en-US" sz="2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Use</a:t>
            </a:r>
            <a:r>
              <a:rPr b="1" i="0" lang="en-US" sz="3200" u="none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0" lang="en-US" sz="2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centrality, ego-networks, community detection to uncover structural 	patterns and network-driven signals.</a:t>
            </a:r>
            <a:endParaRPr/>
          </a:p>
          <a:p>
            <a:pPr indent="-457200" lvl="0" marL="45720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Model experimentation: </a:t>
            </a:r>
            <a:r>
              <a:rPr b="1" i="0" lang="en-US" sz="2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Time-Series models, Link-Prediction techniques, and graph-based ML 	(Node2Vec, hybrid features) to compare predictive performance.</a:t>
            </a:r>
            <a:endParaRPr/>
          </a:p>
          <a:p>
            <a:pPr indent="-457200" lvl="0" marL="45720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Research pipeline: </a:t>
            </a:r>
            <a:r>
              <a:rPr b="1" i="0" lang="en-US" sz="2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Python + SQL + cloud tools to support systematic experiments, feature engineering, and 	explainable model insights.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"/>
          <p:cNvSpPr/>
          <p:nvPr/>
        </p:nvSpPr>
        <p:spPr>
          <a:xfrm>
            <a:off x="0" y="0"/>
            <a:ext cx="187452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25" l="0" r="0" t="-832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14422459" y="-58051"/>
            <a:ext cx="5664333" cy="1649101"/>
          </a:xfrm>
          <a:custGeom>
            <a:rect b="b" l="l" r="r" t="t"/>
            <a:pathLst>
              <a:path extrusionOk="0" h="8143711" w="7380238">
                <a:moveTo>
                  <a:pt x="0" y="0"/>
                </a:moveTo>
                <a:lnTo>
                  <a:pt x="7380238" y="0"/>
                </a:lnTo>
                <a:lnTo>
                  <a:pt x="7380238" y="8143711"/>
                </a:lnTo>
                <a:lnTo>
                  <a:pt x="0" y="8143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0" y="701725"/>
            <a:ext cx="187452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Project Challenges Overview</a:t>
            </a:r>
            <a:endParaRPr b="1" i="0" sz="5400" u="none" cap="none" strike="noStrike">
              <a:solidFill>
                <a:srgbClr val="56DC2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551930" y="1649101"/>
            <a:ext cx="17641340" cy="6924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350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Data extraction &amp; processing: </a:t>
            </a:r>
            <a:r>
              <a:rPr b="1" i="0" lang="en-US" sz="2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reliably pulling, cleaning, and structuring 13F data for network 	construction.</a:t>
            </a:r>
            <a:endParaRPr/>
          </a:p>
          <a:p>
            <a:pPr indent="0" lvl="0" marL="6350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Network modeling: </a:t>
            </a:r>
            <a:r>
              <a:rPr b="1" i="0" lang="en-US" sz="2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integrating time-series, graph features, and market fundamentals/technicals into a 	unified DS model.</a:t>
            </a:r>
            <a:endParaRPr/>
          </a:p>
          <a:p>
            <a:pPr indent="0" lvl="0" marL="6350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Portfolio-strategy modeling: </a:t>
            </a:r>
            <a:r>
              <a:rPr b="1" i="0" lang="en-US" sz="2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building dynamic, continuously updated portfolios based on multiple 	investment strategies that deliver superior benchmark-adjusted performance while accounting for risk levels.</a:t>
            </a:r>
            <a:endParaRPr/>
          </a:p>
          <a:p>
            <a:pPr indent="0" lvl="0" marL="6350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Model explainability: </a:t>
            </a:r>
            <a:r>
              <a:rPr b="1" i="0" lang="en-US" sz="26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delivering clear visual + analytical explanations of model decisions.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"/>
          <p:cNvSpPr/>
          <p:nvPr/>
        </p:nvSpPr>
        <p:spPr>
          <a:xfrm>
            <a:off x="125" y="0"/>
            <a:ext cx="187452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25" l="0" r="0" t="-832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12108875" y="121876"/>
            <a:ext cx="5664333" cy="1649101"/>
          </a:xfrm>
          <a:custGeom>
            <a:rect b="b" l="l" r="r" t="t"/>
            <a:pathLst>
              <a:path extrusionOk="0" h="8143711" w="7380238">
                <a:moveTo>
                  <a:pt x="0" y="0"/>
                </a:moveTo>
                <a:lnTo>
                  <a:pt x="7380238" y="0"/>
                </a:lnTo>
                <a:lnTo>
                  <a:pt x="7380238" y="8143711"/>
                </a:lnTo>
                <a:lnTo>
                  <a:pt x="0" y="8143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138" y="243500"/>
            <a:ext cx="187452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44"/>
              <a:buFont typeface="Arial"/>
              <a:buNone/>
            </a:pPr>
            <a:r>
              <a:rPr b="1" i="0" lang="en-US" sz="6000" u="none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Schedule</a:t>
            </a:r>
            <a:endParaRPr b="0" i="0" sz="5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69" name="Google Shape;169;p5"/>
          <p:cNvGraphicFramePr/>
          <p:nvPr/>
        </p:nvGraphicFramePr>
        <p:xfrm>
          <a:off x="360349" y="10198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{828DF3A9-4CFB-479B-B545-CE3558B795E0}</a:tableStyleId>
              </a:tblPr>
              <a:tblGrid>
                <a:gridCol w="803575"/>
                <a:gridCol w="1803150"/>
                <a:gridCol w="1794600"/>
                <a:gridCol w="9478450"/>
                <a:gridCol w="1940425"/>
                <a:gridCol w="2204575"/>
              </a:tblGrid>
              <a:tr h="37412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שבוע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6DC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תאריכים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6DC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מטרה מרכזית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6DC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משימות לביצוע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6DC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דד־ליין שבועי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6DC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2000" u="none" cap="none" strike="noStrike"/>
                        <a:t>תוצרים נדרשים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6DC2C"/>
                    </a:solidFill>
                  </a:tcPr>
                </a:tc>
              </a:tr>
              <a:tr h="817050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18–21.11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הכנת מצגת לסמינר וחלוקת תחומי אחריות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 u="none" cap="none" strike="noStrike"/>
                        <a:t>רקע ומטרת הפרויקט;</a:t>
                      </a:r>
                      <a:r>
                        <a:rPr lang="en-US" sz="1800"/>
                        <a:t> </a:t>
                      </a:r>
                      <a:r>
                        <a:rPr lang="en-US" sz="1800" u="none" cap="none" strike="noStrike"/>
                        <a:t>הלקוח והאתגרים; </a:t>
                      </a: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חלוקת אחריות</a:t>
                      </a:r>
                      <a:endParaRPr sz="1800"/>
                    </a:p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 u="none" cap="none" strike="noStrike"/>
                        <a:t>לו״ז;  שיטת פתרון כללית;</a:t>
                      </a:r>
                      <a:endParaRPr sz="1800"/>
                    </a:p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 u="none" cap="none" strike="noStrike"/>
                        <a:t>הצגת מצגות (עבודה עם קוד מסיבי ,דומיין רשתות ו 13F,)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הצגת מצגת בסמינר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מצגת מלאה מוכנה</a:t>
                      </a:r>
                      <a:br>
                        <a:rPr lang="en-US" sz="1800" u="none" cap="none" strike="noStrike"/>
                      </a:br>
                      <a:r>
                        <a:rPr lang="en-US" sz="1800" u="none" cap="none" strike="noStrike"/>
                        <a:t>תחומי אחריות לכל איש בצוות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9600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22–28.11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ביצוע אפיון וסקירת ספרות רלוונטית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 u="none" cap="none" strike="noStrike"/>
                        <a:t>סקירת ספרות (Node2Vec/Graph ML</a:t>
                      </a:r>
                      <a:r>
                        <a:rPr lang="en-US" sz="1800"/>
                        <a:t>, bipartite)</a:t>
                      </a:r>
                      <a:endParaRPr sz="1800"/>
                    </a:p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 u="none" cap="none" strike="noStrike"/>
                        <a:t>בניית מתודולוגיית רש</a:t>
                      </a:r>
                      <a:r>
                        <a:rPr lang="en-US" sz="1800" u="none" cap="none" strike="noStrike"/>
                        <a:t>ת</a:t>
                      </a:r>
                      <a:r>
                        <a:rPr lang="en-US" sz="1800" u="none" cap="none" strike="noStrike"/>
                        <a:t>סכמות וטבלאות D</a:t>
                      </a:r>
                      <a:r>
                        <a:rPr lang="en-US" sz="1800" u="none" cap="none" strike="noStrike"/>
                        <a:t>B</a:t>
                      </a:r>
                      <a:endParaRPr sz="1800"/>
                    </a:p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b="1" lang="en-US" sz="1800" u="none" cap="none" strike="noStrike"/>
                        <a:t>בניית Parser בסיסי</a:t>
                      </a:r>
                      <a:r>
                        <a:rPr lang="en-US" sz="1800" u="none" cap="none" strike="noStrike"/>
                        <a:t> ל־13F XML/CSV</a:t>
                      </a:r>
                      <a:endParaRPr sz="1800"/>
                    </a:p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/>
                        <a:t>הגדרת </a:t>
                      </a:r>
                      <a:r>
                        <a:rPr b="1" lang="en-US" sz="1800"/>
                        <a:t>Baseline Models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סקירה ראשונית; Parser ראשוני; תכנון ארכיטקטורה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3087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29.11–05.12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תכנית עבודה + תחילת Data Pipeline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45720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/>
                        <a:t>בניית תכנית עבודה מתוקנת אחרי הסקירה</a:t>
                      </a:r>
                      <a:endParaRPr sz="1800"/>
                    </a:p>
                    <a:p>
                      <a:pPr indent="-342900" lvl="0" marL="45720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/>
                        <a:t>הקמת</a:t>
                      </a:r>
                      <a:r>
                        <a:rPr b="1" lang="en-US" sz="1800"/>
                        <a:t> Pipeline ראשון</a:t>
                      </a:r>
                      <a:r>
                        <a:rPr lang="en-US" sz="1800"/>
                        <a:t> לשליפת נתוני 13F</a:t>
                      </a:r>
                      <a:endParaRPr sz="1800"/>
                    </a:p>
                    <a:p>
                      <a:pPr indent="-342900" lvl="0" marL="45720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/>
                        <a:t>יצירת טבלאות</a:t>
                      </a:r>
                      <a:endParaRPr sz="1800"/>
                    </a:p>
                    <a:p>
                      <a:pPr indent="-342900" lvl="0" marL="45720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/>
                        <a:t>טיפול בחוסרים / Data Cleaning</a:t>
                      </a:r>
                      <a:endParaRPr sz="1800"/>
                    </a:p>
                    <a:p>
                      <a:pPr indent="-342900" lvl="0" marL="45720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/>
                        <a:t>יצירת קבצי Parquet/CSV נקיים</a:t>
                      </a:r>
                      <a:endParaRPr sz="1800"/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תכנית עבודה + מעקב משימות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1207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06–11.12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הגשת מסמך עבודה + המשך פיתוח Pipeline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/>
                        <a:t>כתיבת מסמך הגשה</a:t>
                      </a:r>
                      <a:endParaRPr sz="1800"/>
                    </a:p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/>
                        <a:t>הרחבת Pipeline: יצירת Bipartite edges + בניית</a:t>
                      </a:r>
                      <a:r>
                        <a:rPr b="1" lang="en-US" sz="1800"/>
                        <a:t> feature tables</a:t>
                      </a:r>
                      <a:endParaRPr b="1" sz="1800"/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מסמך הגשה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תכנית עבודה + מעקב משימות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557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12–18.12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בניית רשת בסיסית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b="1" lang="en-US" sz="1800"/>
                        <a:t>בניית גרף ראשוני</a:t>
                      </a:r>
                      <a:endParaRPr b="1" sz="1800"/>
                    </a:p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/>
                        <a:t>חישוב מדדי רשת בסיסיים: Degree, Centrality, Bipartite Projections</a:t>
                      </a:r>
                      <a:endParaRPr sz="1800"/>
                    </a:p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/>
                        <a:t>הכנת Data Layer</a:t>
                      </a:r>
                      <a:endParaRPr sz="1800"/>
                    </a:p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/>
                        <a:t>UI בסיסי להצגת רשת</a:t>
                      </a:r>
                      <a:endParaRPr sz="1800"/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גרף ראשון; Data Layer בסיסי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63750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19–25.12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פיתוח פיצ'רים מתקדמים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b="1" lang="en-US" sz="1800"/>
                        <a:t>מדדים מתקדמים:</a:t>
                      </a:r>
                      <a:r>
                        <a:rPr lang="en-US" sz="1800"/>
                        <a:t> Louvain / Leiden, Ego networks</a:t>
                      </a:r>
                      <a:endParaRPr sz="1800"/>
                    </a:p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b="1" lang="en-US" sz="1800"/>
                        <a:t>פיתוח פיצ'רים: </a:t>
                      </a:r>
                      <a:r>
                        <a:rPr lang="en-US" sz="1800"/>
                        <a:t>Jaccard, Adamic-Adar</a:t>
                      </a:r>
                      <a:endParaRPr sz="1800"/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גרף מלא; Dashboard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26.12–01.01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גימורים ושיפור מערכת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 u="none" cap="none" strike="noStrike"/>
                        <a:t>שיפור ביצועים</a:t>
                      </a:r>
                      <a:endParaRPr sz="1800"/>
                    </a:p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 u="none" cap="none" strike="noStrike"/>
                        <a:t> UX פילטרים וחיפוש</a:t>
                      </a:r>
                      <a:endParaRPr sz="1800" u="none" cap="none" strike="noStrike"/>
                    </a:p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/>
                        <a:t>בניית dataset מוכן </a:t>
                      </a:r>
                      <a:r>
                        <a:rPr b="1" lang="en-US" sz="1800"/>
                        <a:t>למודל החיזוי</a:t>
                      </a:r>
                      <a:endParaRPr b="1" sz="1800"/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מערכת יציבה; טיוטת מצגת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02–08.01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בניית דמו מלא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/>
                        <a:t>בניית מודל</a:t>
                      </a:r>
                      <a:r>
                        <a:rPr b="1" lang="en-US" sz="1800"/>
                        <a:t> Link Prediction אמיתי</a:t>
                      </a:r>
                      <a:r>
                        <a:rPr lang="en-US" sz="1800"/>
                        <a:t> (Node2Vec / ML)</a:t>
                      </a:r>
                      <a:endParaRPr sz="1800"/>
                    </a:p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/>
                        <a:t>ניתוחים</a:t>
                      </a:r>
                      <a:r>
                        <a:rPr lang="en-US" sz="1800"/>
                        <a:t> מתקדמים + כתיבת README</a:t>
                      </a:r>
                      <a:endParaRPr sz="1800"/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דמו מלא; תיעוד איכותי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557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09–15.01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הכנה להאקתון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/>
                        <a:t>תיקון באגים + כתיבת מצגת סופית</a:t>
                      </a:r>
                      <a:endParaRPr sz="1800"/>
                    </a:p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/>
                        <a:t>בדיקת </a:t>
                      </a:r>
                      <a:r>
                        <a:rPr b="1" lang="en-US" sz="1800"/>
                        <a:t>דמו ראשוני</a:t>
                      </a:r>
                      <a:endParaRPr b="1" sz="1800"/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ה</a:t>
                      </a:r>
                      <a:r>
                        <a:rPr lang="en-US" sz="1800" u="none" cap="none" strike="noStrike"/>
                        <a:t>אקתון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מערכת עובדת; מצגת האקתון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10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16.01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הצגת המערכת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b="1" lang="en-US" sz="1800"/>
                        <a:t>הצגת דמו חי </a:t>
                      </a:r>
                      <a:r>
                        <a:rPr b="1" lang="en-US" sz="1800"/>
                        <a:t>+ </a:t>
                      </a:r>
                      <a:r>
                        <a:rPr b="1" lang="en-US" sz="1800"/>
                        <a:t>ארכיטקטורה</a:t>
                      </a:r>
                      <a:endParaRPr b="1" sz="1800"/>
                    </a:p>
                    <a:p>
                      <a:pPr indent="-342900" lvl="0" marL="45720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❏"/>
                      </a:pPr>
                      <a:r>
                        <a:rPr lang="en-US" sz="1800"/>
                        <a:t>העלאה לגיטהאב</a:t>
                      </a:r>
                      <a:endParaRPr sz="1800"/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מערכת ב־GitHub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עמידה בדרישות הקורס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725" marB="0" marR="4725" marL="4725" anchor="ctr">
                    <a:lnL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56DC2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/>
          <p:nvPr/>
        </p:nvSpPr>
        <p:spPr>
          <a:xfrm>
            <a:off x="0" y="0"/>
            <a:ext cx="1856232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3631" l="0" r="-3722" t="-92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10"/>
          <p:cNvGrpSpPr/>
          <p:nvPr/>
        </p:nvGrpSpPr>
        <p:grpSpPr>
          <a:xfrm>
            <a:off x="0" y="-72330"/>
            <a:ext cx="13120102" cy="10359330"/>
            <a:chOff x="0" y="-19050"/>
            <a:chExt cx="3455500" cy="2728383"/>
          </a:xfrm>
        </p:grpSpPr>
        <p:sp>
          <p:nvSpPr>
            <p:cNvPr id="176" name="Google Shape;176;p10"/>
            <p:cNvSpPr/>
            <p:nvPr/>
          </p:nvSpPr>
          <p:spPr>
            <a:xfrm>
              <a:off x="0" y="0"/>
              <a:ext cx="3455500" cy="2709333"/>
            </a:xfrm>
            <a:custGeom>
              <a:rect b="b" l="l" r="r" t="t"/>
              <a:pathLst>
                <a:path extrusionOk="0" h="2709333" w="3455500">
                  <a:moveTo>
                    <a:pt x="0" y="0"/>
                  </a:moveTo>
                  <a:lnTo>
                    <a:pt x="3455500" y="0"/>
                  </a:lnTo>
                  <a:lnTo>
                    <a:pt x="3455500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rgbClr val="000000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0"/>
            <p:cNvSpPr txBox="1"/>
            <p:nvPr/>
          </p:nvSpPr>
          <p:spPr>
            <a:xfrm>
              <a:off x="0" y="-19050"/>
              <a:ext cx="3455500" cy="2728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8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10"/>
          <p:cNvSpPr/>
          <p:nvPr/>
        </p:nvSpPr>
        <p:spPr>
          <a:xfrm>
            <a:off x="9927075" y="578975"/>
            <a:ext cx="8099811" cy="6657484"/>
          </a:xfrm>
          <a:custGeom>
            <a:rect b="b" l="l" r="r" t="t"/>
            <a:pathLst>
              <a:path extrusionOk="0" h="8143711" w="7380238">
                <a:moveTo>
                  <a:pt x="0" y="0"/>
                </a:moveTo>
                <a:lnTo>
                  <a:pt x="7380238" y="0"/>
                </a:lnTo>
                <a:lnTo>
                  <a:pt x="7380238" y="8143712"/>
                </a:lnTo>
                <a:lnTo>
                  <a:pt x="0" y="8143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10567941" y="782009"/>
            <a:ext cx="1136573" cy="552658"/>
          </a:xfrm>
          <a:custGeom>
            <a:rect b="b" l="l" r="r" t="t"/>
            <a:pathLst>
              <a:path extrusionOk="0" h="552658" w="1136573">
                <a:moveTo>
                  <a:pt x="0" y="0"/>
                </a:moveTo>
                <a:lnTo>
                  <a:pt x="1136573" y="0"/>
                </a:lnTo>
                <a:lnTo>
                  <a:pt x="1136573" y="552658"/>
                </a:lnTo>
                <a:lnTo>
                  <a:pt x="0" y="5526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 txBox="1"/>
          <p:nvPr/>
        </p:nvSpPr>
        <p:spPr>
          <a:xfrm>
            <a:off x="1770758" y="2725621"/>
            <a:ext cx="10135800" cy="1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63"/>
              <a:buFont typeface="Arial"/>
              <a:buNone/>
            </a:pPr>
            <a:r>
              <a:rPr b="1" i="0" lang="en-US" sz="9563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1" name="Google Shape;181;p10"/>
          <p:cNvSpPr txBox="1"/>
          <p:nvPr/>
        </p:nvSpPr>
        <p:spPr>
          <a:xfrm>
            <a:off x="1770758" y="4518032"/>
            <a:ext cx="11652300" cy="11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58"/>
              <a:buFont typeface="Arial"/>
              <a:buNone/>
            </a:pPr>
            <a:r>
              <a:rPr b="0" i="0" lang="en-US" sz="7658" u="none" cap="none" strike="noStrike">
                <a:solidFill>
                  <a:srgbClr val="56DC2C"/>
                </a:solidFill>
                <a:latin typeface="Cambria"/>
                <a:ea typeface="Cambria"/>
                <a:cs typeface="Cambria"/>
                <a:sym typeface="Cambria"/>
              </a:rPr>
              <a:t>Q&amp;A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1028700" y="7733523"/>
            <a:ext cx="18855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8"/>
              <a:buFont typeface="Arial"/>
              <a:buNone/>
            </a:pPr>
            <a:r>
              <a:rPr b="0" i="0" lang="en-US" sz="177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7886184" y="7733523"/>
            <a:ext cx="20409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8"/>
              <a:buFont typeface="Arial"/>
              <a:buNone/>
            </a:pPr>
            <a:r>
              <a:rPr b="0" i="0" lang="en-US" sz="177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Supervisor</a:t>
            </a:r>
            <a:endParaRPr b="0" i="0" sz="177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8"/>
              <a:buFont typeface="Arial"/>
              <a:buNone/>
            </a:pPr>
            <a:r>
              <a:t/>
            </a:r>
            <a:endParaRPr b="0" i="0" sz="177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1028700" y="8140950"/>
            <a:ext cx="5837400" cy="981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78" u="none" cap="none" strike="noStrike">
                <a:solidFill>
                  <a:srgbClr val="56DC2C"/>
                </a:solidFill>
                <a:latin typeface="Arial"/>
                <a:ea typeface="Arial"/>
                <a:cs typeface="Arial"/>
                <a:sym typeface="Arial"/>
              </a:rPr>
              <a:t>Leor Shulstein, Ilay Damari </a:t>
            </a:r>
            <a:endParaRPr/>
          </a:p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78" u="none" cap="none" strike="noStrike">
                <a:solidFill>
                  <a:srgbClr val="56DC2C"/>
                </a:solidFill>
                <a:latin typeface="Arial"/>
                <a:ea typeface="Arial"/>
                <a:cs typeface="Arial"/>
                <a:sym typeface="Arial"/>
              </a:rPr>
              <a:t>Asaf Zenou, Daniel Korkevados</a:t>
            </a:r>
            <a:endParaRPr/>
          </a:p>
        </p:txBody>
      </p:sp>
      <p:sp>
        <p:nvSpPr>
          <p:cNvPr id="185" name="Google Shape;185;p10"/>
          <p:cNvSpPr txBox="1"/>
          <p:nvPr/>
        </p:nvSpPr>
        <p:spPr>
          <a:xfrm>
            <a:off x="7886188" y="8140958"/>
            <a:ext cx="3816600" cy="49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78" u="none" cap="none" strike="noStrike">
                <a:solidFill>
                  <a:srgbClr val="56DC2C"/>
                </a:solidFill>
                <a:latin typeface="Arial"/>
                <a:ea typeface="Arial"/>
                <a:cs typeface="Arial"/>
                <a:sym typeface="Arial"/>
              </a:rPr>
              <a:t>Offer zevin</a:t>
            </a:r>
            <a:endParaRPr b="1" i="0" sz="2278" u="none" cap="none" strike="noStrike">
              <a:solidFill>
                <a:srgbClr val="56DC2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