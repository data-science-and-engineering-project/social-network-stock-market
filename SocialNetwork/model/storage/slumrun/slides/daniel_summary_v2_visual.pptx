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377440"/>
          </a:xfrm>
          <a:prstGeom prst="rect">
            <a:avLst/>
          </a:prstGeom>
          <a:solidFill>
            <a:srgbClr val="18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FFFFFF"/>
                </a:solidFill>
                <a:latin typeface="Calibri"/>
              </a:rPr>
              <a:t>13F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CE6F0"/>
                </a:solidFill>
                <a:latin typeface="Calibri"/>
              </a:rPr>
              <a:t>SAGE vs GAT vs LightGCN V4 — five-slide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  <a:latin typeface="Calibri"/>
              </a:rPr>
              <a:t>Daniel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64592" cy="5486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86D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152"/>
                </a:solidFill>
                <a:latin typeface="Calibri"/>
              </a:rPr>
              <a:t>The three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70332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3152"/>
                </a:solidFill>
                <a:latin typeface="Calibri"/>
              </a:rPr>
              <a:t>WeightedSAGE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Mean of neighbour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68880"/>
            <a:ext cx="32461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83152"/>
                </a:solidFill>
                <a:latin typeface="Consolas"/>
              </a:rPr>
              <a:t>h_v ← W · MEAN(h_v, h_u for u ∈ N(v))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529"/>
                </a:solidFill>
                <a:latin typeface="Calibri"/>
              </a:rPr>
              <a:t>3-way tertile classification · 2 layers · h=64 · 150 epochs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70332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3152"/>
                </a:solidFill>
                <a:latin typeface="Calibri"/>
              </a:rPr>
              <a:t>WeightedGAT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Attention-weighted neighbour messages.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468880"/>
            <a:ext cx="32461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877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83152"/>
                </a:solidFill>
                <a:latin typeface="Consolas"/>
              </a:rPr>
              <a:t>α_uv = softmax(LeakyReLU(a · [Wh_u||Wh_v]))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529"/>
                </a:solidFill>
                <a:latin typeface="Calibri"/>
              </a:rPr>
              <a:t>Same task as SAGE · 4 heads · dropout 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70332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83152"/>
                </a:solidFill>
                <a:latin typeface="Calibri"/>
              </a:rPr>
              <a:t>LightGCN 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8745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Embedding-only collaborative filtering.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468880"/>
            <a:ext cx="32461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5877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83152"/>
                </a:solidFill>
                <a:latin typeface="Consolas"/>
              </a:rPr>
              <a:t>e_u^(k+1) = Σ_v (1/√(|N_u||N_v|)) e_v^(k)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291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529"/>
                </a:solidFill>
                <a:latin typeface="Calibri"/>
              </a:rPr>
              <a:t>BPR ranking · embeds=128 · 3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64592" cy="5486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86D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152"/>
                </a:solidFill>
                <a:latin typeface="Calibri"/>
              </a:rPr>
              <a:t>Edges vs weighted edges</a:t>
            </a:r>
          </a:p>
        </p:txBody>
      </p:sp>
      <p:pic>
        <p:nvPicPr>
          <p:cNvPr id="6" name="Picture 5" descr="_chart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766560" cy="297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Edges = fund → stock (CIK → CUSIP) from 13F.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change_in_weight: raw Δ in portfolio weight quarter-over-quarter.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change_in_adjusted_weight: Δ normalised for AUM movement.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Empirical: ≤ 0.003 difference across all 6 corners.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v1 models do not consume the weight value (architecture choice).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64592" cy="5486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86D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152"/>
                </a:solidFill>
                <a:latin typeface="Calibri"/>
              </a:rPr>
              <a:t>Results in short</a:t>
            </a:r>
          </a:p>
        </p:txBody>
      </p:sp>
      <p:pic>
        <p:nvPicPr>
          <p:cNvPr id="6" name="Picture 5" descr="_chart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766560" cy="3552444"/>
          </a:xfrm>
          <a:prstGeom prst="rect">
            <a:avLst/>
          </a:prstGeom>
        </p:spPr>
      </p:pic>
      <p:pic>
        <p:nvPicPr>
          <p:cNvPr id="7" name="Picture 6" descr="_chart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6766560" cy="35524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SAGE &gt; GAT in every (approach, edge col) — Δ ≈ −0.03 to −0.04.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Best classifier: multiq_A · SAGE · 0.415 acc.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All corners beat chance (0.333).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LightGCN V4: AUC 0.910 · F1@opt 0.840.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V4 metrics ≠ SAGE/GAT accuracy (different task, different scale).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GAT missing 3 quarters per multiq corner (24 GB OOM, see KNOWN_ISSUES).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64592" cy="5486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86D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3152"/>
                </a:solidFill>
                <a:latin typeface="Calibri"/>
              </a:rPr>
              <a:t>Further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3152"/>
                </a:solidFill>
                <a:latin typeface="Calibri"/>
              </a:rPr>
              <a:t>Align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Match hidden dim, layer count, and epoch count across SAGE / GAT / LightGCN so the accuracy gap reflects the architecture, not the recipe.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3152"/>
                </a:solidFill>
                <a:latin typeface="Calibri"/>
              </a:rPr>
              <a:t>Filter big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40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Drop the largest funds (BlackRock, Vanguard) — they appear in almost every stock's neighbourhood and overwhelm aggregation.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3152"/>
                </a:solidFill>
                <a:latin typeface="Calibri"/>
              </a:rPr>
              <a:t>Filter big stocks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00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Drop highest-AUM mega-caps that every fund holds — they dominate the edge set and crowd out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3152"/>
                </a:solidFill>
                <a:latin typeface="Calibri"/>
              </a:rPr>
              <a:t>Retry missing GAT quarters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605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Re-submit runandcompare_{A,B}.sbatch on RTX 5090 (32 GB) to fill 2024Q2-Q4 GAT rows; smart resume picks them up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3152"/>
                </a:solidFill>
                <a:latin typeface="Calibri"/>
              </a:rPr>
              <a:t>Compare v1 vs v2 weighted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120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Calibri"/>
              </a:rPr>
              <a:t>Re-introduce the v2 sweep with edge_weight in the message function, and check whether the empty edge-column effect we see in v1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