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E3C78"/>
                </a:solidFill>
                <a:latin typeface="Calibri"/>
              </a:rPr>
              <a:t>13F GNN — model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Calibri"/>
              </a:rPr>
              <a:t>SAGE vs GAT vs LightGCN V4 over 11 years of 13F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A5A"/>
                </a:solidFill>
                <a:latin typeface="Calibri"/>
              </a:rPr>
              <a:t>Daniel  ·  Final Project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54680"/>
            <a:ext cx="1828800" cy="2000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Calibri"/>
              </a:rPr>
              <a:t>1. The three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3C78"/>
                </a:solidFill>
                <a:latin typeface="Calibri"/>
              </a:rPr>
              <a:t>WeightedSAGE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Mean of neighbour features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h_v ← W · MEAN(h_v, h_u for u in N(v))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Task: 3-way tertile classification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Loss: cross-entropy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2 layers · hidden 64 · 150 epochs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3C78"/>
                </a:solidFill>
                <a:latin typeface="Calibri"/>
              </a:rPr>
              <a:t>WeightedGAT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Multi-head attention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α_uv = softmax(LeakyReLU(a · [Wh_u || Wh_v]))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Same task and loss as SAGE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4 heads · hidden 64 · dropout 0.5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Heavier on memory than 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3C78"/>
                </a:solidFill>
                <a:latin typeface="Calibri"/>
              </a:rPr>
              <a:t>LightGCN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Embedding-only (no MLP, no nonlinearity)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e_u^(k+1) = Σ_v 1/√(|N_u||N_v|) e_v^(k)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Task: BPR ranking on (fund, +, −) triples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Embeds dim 128 · 3 layers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282828"/>
                </a:solidFill>
                <a:latin typeface="Calibri"/>
              </a:rPr>
              <a:t>• Recommends top stocks per quarter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Calibri"/>
              </a:rPr>
              <a:t>2. Edges vs weighted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Edges are CIK → CUSIP (fund holds stock) from 13F filings.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change_in_weight: raw quarter-over-quarter Δ in fund-portfolio weight.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change_in_adjusted_weight: same Δ but normalised for AUM movement so a fund's general scaling doesn't dominate.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v1 models (SAGE, GAT) ignore the edge weight in forward — only the existence of the edge matters; weights affect train/test split (NaN edges dropped).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v2 models would feed the weight into messages — not used in this run; the unweighted v1 was kept to match the original cluster notebooks.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Empirical result: the two edge columns produce essentially identical accuracy (Δ ≤ 0.003 across all corners).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Calibri"/>
              </a:rPr>
              <a:t>3. Results in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A5A5A"/>
                </a:solidFill>
                <a:latin typeface="Calibri"/>
              </a:rPr>
              <a:t>SAGE &amp; GAT — 3-way tertile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Chance = 0.333 · all corners &gt; chance.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SAGE beats GAT in every (approach, edge col).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Best: multiq_A · SAGE · 0.415 mean accuracy.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GAT − SAGE: −0.03 to −0.04 across the 6 corners.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change_in_weight ≈ change_in_adjusted_weight (≤ 0.003).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A5A5A"/>
                </a:solidFill>
                <a:latin typeface="Calibri"/>
              </a:rPr>
              <a:t>LightGCN V4 — recommendation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AUC = 0.910 (47 quarters)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Avg precision = 0.909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F1 @ optimal threshold = 0.840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hit@10 = 0.309, NDCG@10 = 0.067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Different task — not directly comparable to SAGE/GAT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Calibri"/>
              </a:rPr>
              <a:t>4. Further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Align hyperparameters across SAGE / GAT / LightGCN — same hidden dim, layers, epochs — so accuracy gaps reflect the architecture, not the recipe.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Filter the long tail: drop very small funds (low AUM) and very illiquid stocks before building edges; the bottom of the AUM distribution is mostly noise.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Filter the very-large outliers too: the largest funds (BlackRock, Vanguard) appear in almost every CUSIP's neighbour list and dominate aggregation.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Re-run the missing 2024 GAT quarters once a 32 GB GPU (RTX 5090) is available — see KNOWN_ISSUES.md.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282828"/>
                </a:solidFill>
                <a:latin typeface="Calibri"/>
              </a:rPr>
              <a:t>• Add a v2 (weighted) sweep: pass edge weights into SAGE / GAT messages and compare to the unweighted v1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