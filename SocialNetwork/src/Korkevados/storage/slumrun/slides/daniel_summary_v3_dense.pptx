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FF5929"/>
                </a:solidFill>
                <a:latin typeface="Consolas"/>
              </a:rPr>
              <a:t>13F GNN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FFFFFF"/>
                </a:solidFill>
                <a:latin typeface="Calibri"/>
              </a:rPr>
              <a:t>SAGE · GAT · LightGCN-V4 — technical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023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B4B4B4"/>
                </a:solidFill>
                <a:latin typeface="Calibri"/>
              </a:rPr>
              <a:t>v1 unweighted GNN classification ⊕ V4 recommendation · 11-year quarterly sweep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E6E6E"/>
                </a:solidFill>
                <a:latin typeface="Consolas"/>
              </a:rPr>
              <a:t>Daniel · 2026 · 7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5929"/>
                </a:solidFill>
                <a:latin typeface="Consolas"/>
              </a:rPr>
              <a:t>§1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Models — what each one actually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E6E6E"/>
                </a:solidFill>
                <a:latin typeface="Consolas"/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960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E6E6E"/>
                </a:solidFill>
                <a:latin typeface="Consolas"/>
              </a:rPr>
              <a:t>PROPAGATION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960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E6E6E"/>
                </a:solidFill>
                <a:latin typeface="Consolas"/>
              </a:rPr>
              <a:t>TRAINING / SHAPE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261872"/>
            <a:ext cx="11521440" cy="8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5929"/>
                </a:solidFill>
                <a:latin typeface="Calibri"/>
              </a:rPr>
              <a:t>WeightedSAGE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onsolas"/>
              </a:rPr>
              <a:t>h_v ← σ(W · MEAN(h_v ∪ {h_u : u ∈ N(v)}))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0116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E6E6E"/>
                </a:solidFill>
                <a:latin typeface="Calibri"/>
              </a:rPr>
              <a:t>Cross-entropy on tertile labels · Adam(lr=8e-4, wd=5e-4) · 150 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371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1E1E"/>
                </a:solidFill>
                <a:latin typeface="Calibri"/>
              </a:rPr>
              <a:t>2 layers · hidden 64 · dropout 0.5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679192"/>
            <a:ext cx="11521440" cy="8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7889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5929"/>
                </a:solidFill>
                <a:latin typeface="Calibri"/>
              </a:rPr>
              <a:t>WeightedGAT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7889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onsolas"/>
              </a:rPr>
              <a:t>α_uv = softmax_u(LeakyReLU(a · [Wh_v ∥ Wh_u])); h_v ← ∥_k σ(Σ α^k Wh_u)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4290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E6E6E"/>
                </a:solidFill>
                <a:latin typeface="Calibri"/>
              </a:rPr>
              <a:t>Same loss &amp; optimiser as 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78892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1E1E"/>
                </a:solidFill>
                <a:latin typeface="Calibri"/>
              </a:rPr>
              <a:t>2 layers · hidden 64 · 4 heads · dropout 0.5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96512"/>
            <a:ext cx="11521440" cy="8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206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5929"/>
                </a:solidFill>
                <a:latin typeface="Calibri"/>
              </a:rPr>
              <a:t>LightGCN-V4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2062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onsolas"/>
              </a:rPr>
              <a:t>e_u^(k+1) = Σ_{v∈N(u)} (1/√|N_u||N_v|) · e_v^(k); e_u = Σ_k β_k e_u^(k)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846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E6E6E"/>
                </a:solidFill>
                <a:latin typeface="Calibri"/>
              </a:rPr>
              <a:t>BPR ranking on (fund, +stock, −stock) triples · ≈90 epochs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20624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E1E1E"/>
                </a:solidFill>
                <a:latin typeface="Calibri"/>
              </a:rPr>
              <a:t>embed_dim 128 · 3 layers · no MLP, no nonlinearity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715000"/>
            <a:ext cx="11521440" cy="960120"/>
          </a:xfrm>
          <a:prstGeom prst="rect">
            <a:avLst/>
          </a:prstGeom>
          <a:solidFill>
            <a:srgbClr val="FCF8E6"/>
          </a:solidFill>
          <a:ln w="9525">
            <a:solidFill>
              <a:srgbClr val="DCC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78815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B48200"/>
                </a:solidFill>
                <a:latin typeface="Consolas"/>
              </a:rPr>
              <a:t>Note — v1 SAGE / GAT do NOT use edge_weight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06247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03C00"/>
                </a:solidFill>
                <a:latin typeface="Calibri"/>
              </a:rPr>
              <a:t>The class names ("WeightedSAGE", "WeightedGAT") are historical. Their forward methods call conv(x, edge_index) — edge_weight is in the signature but never passed to SAGEConv/GATConv. _common.py hardcodes weighted=False. Edge weights only act as a NaN-filter on which edges exist.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5929"/>
                </a:solidFill>
                <a:latin typeface="Consolas"/>
              </a:rPr>
              <a:t>§2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Edge columns — change_in_weight vs change_in_adjusted_weight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Edges built from 13F filings: u (CIK / fund) → v (CUSIP / stock).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change_in_weight = w_t(u,v) − w_{t−1}(u,v); raw quarter-over-quarter Δ.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change_in_adjusted_weight = same Δ but normalised by fund AUM movement, removing pure-rescaling effects when a fund's value swings.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BOTH columns are used as a NaN-filter — rows with NaN Δ (new / sold holdings) are dropped, producing slightly different edge sets per quarter.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v1 model classes IGNORE the weight value — only edge existence matters during message passing.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So the per-corner gap (≤ 0.003 acc) reflects edge-set differences, not weight differences. A real weighted v2 sweep is on slide 7's further-work list.</a:t>
            </a:r>
          </a:p>
        </p:txBody>
      </p:sp>
      <p:pic>
        <p:nvPicPr>
          <p:cNvPr id="6" name="Picture 5" descr="_chart_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280160"/>
            <a:ext cx="4389120" cy="19751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5929"/>
                </a:solidFill>
                <a:latin typeface="Consolas"/>
              </a:rPr>
              <a:t>§3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Results — change_in_weight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0F0F"/>
                </a:solidFill>
                <a:latin typeface="Calibri"/>
              </a:rPr>
              <a:t>SAGE / GAT  ·  change_in_weight  ·  3 approaches × 2 models  (chance = 0.333)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25880"/>
          <a:ext cx="5852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04672"/>
                <a:gridCol w="804672"/>
                <a:gridCol w="804672"/>
                <a:gridCol w="804672"/>
                <a:gridCol w="804672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corner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acc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F1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stk_acc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inv_acc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train_s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alibri"/>
                        </a:rPr>
                        <a:t>bipartite · SAGE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0.402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0.385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0.372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0.425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alibri"/>
                        </a:rPr>
                        <a:t>bipartite · GAT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0.363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0.313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0.343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0.376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7.5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alibri"/>
                        </a:rPr>
                        <a:t>multiq_A · SAGE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0.415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0.401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0.382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0.438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141.0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alibri"/>
                        </a:rPr>
                        <a:t>multiq_A · GAT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0.371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0.334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0.345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0.388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80.0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alibri"/>
                        </a:rPr>
                        <a:t>multiq_B · SAGE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0.387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0.374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0.357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0.409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69.1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alibri"/>
                        </a:rPr>
                        <a:t>multiq_B · GAT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0.356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0.310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0.338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0.367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79.1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_chart_perq_change_in_w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60120"/>
            <a:ext cx="5430982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406908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282828"/>
                </a:solidFill>
                <a:latin typeface="Calibri"/>
              </a:rPr>
              <a:t>• Best SAGE corner here: multiq_A → acc 0.415  (0.401 F1).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282828"/>
                </a:solidFill>
                <a:latin typeface="Calibri"/>
              </a:rPr>
              <a:t>• Mean GAT − SAGE accuracy gap on this edge col: -0.038.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282828"/>
                </a:solidFill>
                <a:latin typeface="Calibri"/>
              </a:rPr>
              <a:t>• Training time spans 1s to 141s per quarter (multi-quarter graphs are heaviest).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282828"/>
                </a:solidFill>
                <a:latin typeface="Calibri"/>
              </a:rPr>
              <a:t>• v1 models do NOT consume edge weights — see slide 2 note.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5929"/>
                </a:solidFill>
                <a:latin typeface="Consolas"/>
              </a:rPr>
              <a:t>§4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Results — change_in_adjusted_weight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0F0F"/>
                </a:solidFill>
                <a:latin typeface="Calibri"/>
              </a:rPr>
              <a:t>SAGE / GAT  ·  change_in_adjusted_weight  ·  3 approaches × 2 models  (chance = 0.333)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325880"/>
          <a:ext cx="5852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804672"/>
                <a:gridCol w="804672"/>
                <a:gridCol w="804672"/>
                <a:gridCol w="804672"/>
                <a:gridCol w="804672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corner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acc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F1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stk_acc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inv_acc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train_s</a:t>
                      </a:r>
                    </a:p>
                  </a:txBody>
                  <a:tcPr>
                    <a:solidFill>
                      <a:srgbClr val="0F0F0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alibri"/>
                        </a:rPr>
                        <a:t>bipartite · SAGE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0.402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0.386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0.372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0.425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1.0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alibri"/>
                        </a:rPr>
                        <a:t>bipartite · GAT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0.364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0.319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0.343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0.379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7.5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alibri"/>
                        </a:rPr>
                        <a:t>multiq_A · SAGE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0.415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0.400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0.384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0.436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141.6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alibri"/>
                        </a:rPr>
                        <a:t>multiq_A · GAT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0.371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0.335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0.345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0.386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80.6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alibri"/>
                        </a:rPr>
                        <a:t>multiq_B · SAGE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0.390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0.377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0.365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0.411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68.4</a:t>
                      </a:r>
                    </a:p>
                  </a:txBody>
                  <a:tcPr>
                    <a:solidFill>
                      <a:srgbClr val="EBF2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alibri"/>
                        </a:rPr>
                        <a:t>multiq_B · GAT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0.358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0.315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0.337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0.373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78.9</a:t>
                      </a:r>
                    </a:p>
                  </a:txBody>
                  <a:tcPr>
                    <a:solidFill>
                      <a:srgbClr val="FFF0E2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_chart_perq_change_in_adjusted_w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60120"/>
            <a:ext cx="5430982" cy="5120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406908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100">
                <a:solidFill>
                  <a:srgbClr val="282828"/>
                </a:solidFill>
                <a:latin typeface="Calibri"/>
              </a:rPr>
              <a:t>• Best SAGE corner here: multiq_A → acc 0.415  (0.400 F1).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282828"/>
                </a:solidFill>
                <a:latin typeface="Calibri"/>
              </a:rPr>
              <a:t>• Mean GAT − SAGE accuracy gap on this edge col: -0.038.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282828"/>
                </a:solidFill>
                <a:latin typeface="Calibri"/>
              </a:rPr>
              <a:t>• Training time spans 1s to 142s per quarter (multi-quarter graphs are heaviest).</a:t>
            </a:r>
          </a:p>
          <a:p>
            <a:pPr>
              <a:lnSpc>
                <a:spcPct val="115000"/>
              </a:lnSpc>
            </a:pPr>
            <a:r>
              <a:rPr sz="1100">
                <a:solidFill>
                  <a:srgbClr val="282828"/>
                </a:solidFill>
                <a:latin typeface="Calibri"/>
              </a:rPr>
              <a:t>• v1 models do NOT consume edge weights — see slide 2 note.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5929"/>
                </a:solidFill>
                <a:latin typeface="Consolas"/>
              </a:rPr>
              <a:t>§5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LightGCN V4 (separate task) and top stable CUSIPs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0F0F"/>
                </a:solidFill>
                <a:latin typeface="Calibri"/>
              </a:rPr>
              <a:t>LightGCN V4  ·  47 quarters  (recommendation, not classification)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37160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5929"/>
                </a:solidFill>
                <a:latin typeface="Consolas"/>
              </a:rPr>
              <a:t>0.910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55648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Avg precision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5564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5929"/>
                </a:solidFill>
                <a:latin typeface="Consolas"/>
              </a:rPr>
              <a:t>0.909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39696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F1 @ opt thr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13969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5929"/>
                </a:solidFill>
                <a:latin typeface="Consolas"/>
              </a:rPr>
              <a:t>0.840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523744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hit@10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52374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5929"/>
                </a:solidFill>
                <a:latin typeface="Consolas"/>
              </a:rPr>
              <a:t>0.309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907791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NDCG@10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907791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5929"/>
                </a:solidFill>
                <a:latin typeface="Consolas"/>
              </a:rPr>
              <a:t>0.067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291840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1E1E1E"/>
                </a:solidFill>
                <a:latin typeface="Calibri"/>
              </a:rPr>
              <a:t>rank↔return 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9184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5929"/>
                </a:solidFill>
                <a:latin typeface="Consolas"/>
              </a:rPr>
              <a:t>0.024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40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E6E6E"/>
                </a:solidFill>
                <a:latin typeface="Calibri"/>
              </a:rPr>
              <a:t>V4 is a recommender (binary BPR ranking on fund-stock edges), so its AUC ≈ 0.91 isn't directly comparable to the 3-way tertile accuracy of SAGE / GAT. It runs only with change_in_weight.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960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0F0F"/>
                </a:solidFill>
                <a:latin typeface="Calibri"/>
              </a:rPr>
              <a:t>Top-5 most stably-ranked CUSIPs  ·  bipartite × change_in_weight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5EAA"/>
                </a:solidFill>
                <a:latin typeface="Calibri"/>
              </a:rPr>
              <a:t>SAGE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669280" y="1645920"/>
          <a:ext cx="60350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74420"/>
                <a:gridCol w="1074420"/>
                <a:gridCol w="1074420"/>
                <a:gridCol w="1074420"/>
              </a:tblGrid>
              <a:tr h="304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cusip</a:t>
                      </a:r>
                    </a:p>
                  </a:txBody>
                  <a:tcPr>
                    <a:solidFill>
                      <a:srgbClr val="2E5E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n_q</a:t>
                      </a:r>
                    </a:p>
                  </a:txBody>
                  <a:tcPr>
                    <a:solidFill>
                      <a:srgbClr val="2E5E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mean_rank</a:t>
                      </a:r>
                    </a:p>
                  </a:txBody>
                  <a:tcPr>
                    <a:solidFill>
                      <a:srgbClr val="2E5E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best</a:t>
                      </a:r>
                    </a:p>
                  </a:txBody>
                  <a:tcPr>
                    <a:solidFill>
                      <a:srgbClr val="2E5E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top25%</a:t>
                      </a:r>
                    </a:p>
                  </a:txBody>
                  <a:tcPr>
                    <a:solidFill>
                      <a:srgbClr val="2E5EA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alibri"/>
                        </a:rPr>
                        <a:t>65542W107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1016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13.0%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alibri"/>
                        </a:rPr>
                        <a:t>28414H103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1027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152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0.0%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alibri"/>
                        </a:rPr>
                        <a:t>53071M104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1044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6.1%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alibri"/>
                        </a:rPr>
                        <a:t>81362J100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1075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4.2%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alibri"/>
                        </a:rPr>
                        <a:t>42225K106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1090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669280" y="3611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07A1F"/>
                </a:solidFill>
                <a:latin typeface="Calibri"/>
              </a:rPr>
              <a:t>GAT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669280" y="3931920"/>
          <a:ext cx="60350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74420"/>
                <a:gridCol w="1074420"/>
                <a:gridCol w="1074420"/>
                <a:gridCol w="1074420"/>
              </a:tblGrid>
              <a:tr h="304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cusip</a:t>
                      </a:r>
                    </a:p>
                  </a:txBody>
                  <a:tcPr>
                    <a:solidFill>
                      <a:srgbClr val="E07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n_q</a:t>
                      </a:r>
                    </a:p>
                  </a:txBody>
                  <a:tcPr>
                    <a:solidFill>
                      <a:srgbClr val="E07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mean_rank</a:t>
                      </a:r>
                    </a:p>
                  </a:txBody>
                  <a:tcPr>
                    <a:solidFill>
                      <a:srgbClr val="E07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best</a:t>
                      </a:r>
                    </a:p>
                  </a:txBody>
                  <a:tcPr>
                    <a:solidFill>
                      <a:srgbClr val="E07A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onsolas"/>
                        </a:rPr>
                        <a:t>top25%</a:t>
                      </a:r>
                    </a:p>
                  </a:txBody>
                  <a:tcPr>
                    <a:solidFill>
                      <a:srgbClr val="E07A1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alibri"/>
                        </a:rPr>
                        <a:t>594918104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4.3%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alibri"/>
                        </a:rPr>
                        <a:t>023135106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4.3%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alibri"/>
                        </a:rPr>
                        <a:t>037833100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6.5%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alibri"/>
                        </a:rPr>
                        <a:t>060505104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1005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0.0%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alibri"/>
                        </a:rPr>
                        <a:t>30303M102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1006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E1E"/>
                          </a:solidFill>
                          <a:latin typeface="Consolas"/>
                        </a:rPr>
                        <a:t>4.3%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669280" y="589788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6E"/>
                </a:solidFill>
                <a:latin typeface="Calibri"/>
              </a:rPr>
              <a:t>GAT's top-5 = mega-caps (MSFT, AMZN, AAPL, BAC, META) appearing in every quarter — motivates the 'filter big stocks' work item on slide 7.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5929"/>
                </a:solidFill>
                <a:latin typeface="Consolas"/>
              </a:rPr>
              <a:t>§6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Calibri"/>
              </a:rPr>
              <a:t>Further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Add a TRUE v2 weighted SAGE / GAT — pass edge_weight into the message function (current v1 ignores it; class names are misleading). Then compare to this v1 unweighted baseline.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Align hyperparameters across models — matched hidden dim, layer count, epoch budget. Right now SAGE/GAT have hidden 64, V4 has embed_dim 128, so accuracy gaps are entangled with capacity gaps.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Filter big funds: top-decile-AUM funds dominate the bipartite edge set, producing a 'connect-everyone' star pattern that washes out smaller specialised investors' signal.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Filter big stocks: mega-caps (AAPL, MSFT, AMZN, etc.) appear in essentially every fund's portfolio — confirmed by the GAT top-stable CUSIPs on slide 6 — and act as a constant background.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Re-run the missing 2024 GAT quarters (multiq_A, multiq_B × both edge cols) once a 32 GB GPU is available — the smart-resume in _common.py picks them up automatically; see KNOWN_ISSUES.md.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282828"/>
                </a:solidFill>
                <a:latin typeface="Calibri"/>
              </a:rPr>
              <a:t>• Add a non-13F return baseline (linear / random forest on stock fundamentals) so we can attribute the lift to graph structure vs features.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